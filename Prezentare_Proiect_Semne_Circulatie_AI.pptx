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45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7236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Animatie recomandata: Fade + Glow pentru titlu.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Animatie recomandata: Aparitie pe rand pentru bullet-uri.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Animatie recomandata: Aparitie pe rand pentru bullet-uri.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Animatie recomandata: Intrare stanga/dreapta pentru coloane.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Animatie recomandata: Fade pentru imagine.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Animatie recomandata: Aparitie pe rand pentru bullet-uri.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Animatie recomandata: Aparitie pe rand pentru bullet-uri.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Animatie recomandata: Fade pentru imagine.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Animatie recomandata: Zoom pe carduri metrici (pe rand).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Animatie recomandata: Fade pentru imagine.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Animatie recomandata: Aparitie succesiva a imaginilor.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Animatie recomandata: Aparitie pe rand pentru bullet-uri.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Animatie recomandata: Zoom usor + Fade.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548640" y="-365760"/>
            <a:ext cx="3840480" cy="3840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0" y="4572000"/>
            <a:ext cx="4206240" cy="42062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155680" cy="5212080"/>
          </a:xfrm>
          <a:prstGeom prst="rect">
            <a:avLst/>
          </a:prstGeom>
          <a:solidFill>
            <a:srgbClr val="0A1020"/>
          </a:solidFill>
          <a:ln w="158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822960"/>
            <a:ext cx="2011680" cy="548640"/>
          </a:xfrm>
          <a:prstGeom prst="roundRect">
            <a:avLst/>
          </a:prstGeom>
          <a:solidFill>
            <a:srgbClr val="11182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06B6D4"/>
                </a:solidFill>
                <a:latin typeface="Segoe UI"/>
              </a:defRPr>
            </a:pPr>
            <a:r>
              <a:t>AI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972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8FAFC"/>
                </a:solidFill>
                <a:latin typeface="Segoe UI Semibold"/>
              </a:defRPr>
            </a:pPr>
            <a:r>
              <a:t>Sistem de detecție și clasificare</a:t>
            </a:r>
            <a:br/>
            <a:r>
              <a:t>semne de circulație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01672"/>
            <a:ext cx="6227154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94A3B8"/>
                </a:solidFill>
                <a:latin typeface="Segoe UI"/>
              </a:defRPr>
            </a:pPr>
            <a:r>
              <a:rPr lang="it-IT" dirty="0" err="1"/>
              <a:t>Rețele</a:t>
            </a:r>
            <a:r>
              <a:rPr lang="it-IT" dirty="0"/>
              <a:t> Neuronale · POLITEHNICA </a:t>
            </a:r>
            <a:r>
              <a:rPr lang="it-IT" dirty="0" err="1"/>
              <a:t>București</a:t>
            </a:r>
            <a:r>
              <a:rPr lang="it-IT" dirty="0"/>
              <a:t> – FIIR</a:t>
            </a:r>
            <a:br>
              <a:rPr lang="it-IT" dirty="0"/>
            </a:br>
            <a:r>
              <a:rPr lang="it-IT" dirty="0" err="1"/>
              <a:t>Student</a:t>
            </a:r>
            <a:r>
              <a:rPr lang="it-IT" dirty="0"/>
              <a:t>: </a:t>
            </a:r>
            <a:r>
              <a:rPr lang="it-IT" dirty="0" err="1"/>
              <a:t>Sandu</a:t>
            </a:r>
            <a:r>
              <a:rPr lang="it-IT" dirty="0"/>
              <a:t> Robert-Mauro</a:t>
            </a:r>
          </a:p>
          <a:p>
            <a:pPr>
              <a:defRPr sz="2200">
                <a:solidFill>
                  <a:srgbClr val="94A3B8"/>
                </a:solidFill>
                <a:latin typeface="Segoe UI"/>
              </a:defRPr>
            </a:pPr>
            <a:r>
              <a:rPr lang="it-IT" dirty="0" err="1"/>
              <a:t>Profesor</a:t>
            </a:r>
            <a:r>
              <a:rPr lang="it-IT" dirty="0"/>
              <a:t> </a:t>
            </a:r>
            <a:r>
              <a:rPr lang="it-IT" dirty="0" err="1"/>
              <a:t>îndrumător</a:t>
            </a:r>
            <a:r>
              <a:rPr lang="it-IT" dirty="0"/>
              <a:t>: Mihai Sima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822960" y="6035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Prezentare proiect · 22.01.2026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548640" y="-365760"/>
            <a:ext cx="3840480" cy="3840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0" y="4572000"/>
            <a:ext cx="4206240" cy="42062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155680" cy="5212080"/>
          </a:xfrm>
          <a:prstGeom prst="rect">
            <a:avLst/>
          </a:prstGeom>
          <a:solidFill>
            <a:srgbClr val="0A1020"/>
          </a:solidFill>
          <a:ln w="158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365760"/>
            <a:ext cx="11247120" cy="822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502920"/>
            <a:ext cx="137160" cy="548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438912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 Semibold"/>
              </a:defRPr>
            </a:pPr>
            <a:r>
              <a:t>Cuprins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10789920" cy="5120640"/>
          </a:xfrm>
          <a:prstGeom prst="roundRect">
            <a:avLst/>
          </a:prstGeom>
          <a:solidFill>
            <a:srgbClr val="11182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E2E8F0"/>
                </a:solidFill>
                <a:latin typeface="Segoe UI"/>
              </a:defRPr>
            </a:pPr>
            <a:r>
              <a:t>Motivație și obiective</a:t>
            </a:r>
          </a:p>
          <a:p>
            <a:pPr>
              <a:defRPr sz="2200">
                <a:solidFill>
                  <a:srgbClr val="E2E8F0"/>
                </a:solidFill>
                <a:latin typeface="Segoe UI"/>
              </a:defRPr>
            </a:pPr>
            <a:r>
              <a:t>Date și contribuție originală</a:t>
            </a:r>
          </a:p>
          <a:p>
            <a:pPr>
              <a:defRPr sz="2200">
                <a:solidFill>
                  <a:srgbClr val="E2E8F0"/>
                </a:solidFill>
                <a:latin typeface="Segoe UI"/>
              </a:defRPr>
            </a:pPr>
            <a:r>
              <a:t>Arhitectură aplicație + State Machine</a:t>
            </a:r>
          </a:p>
          <a:p>
            <a:pPr>
              <a:defRPr sz="2200">
                <a:solidFill>
                  <a:srgbClr val="E2E8F0"/>
                </a:solidFill>
                <a:latin typeface="Segoe UI"/>
              </a:defRPr>
            </a:pPr>
            <a:r>
              <a:t>Model RN și antrenare</a:t>
            </a:r>
          </a:p>
          <a:p>
            <a:pPr>
              <a:defRPr sz="2200">
                <a:solidFill>
                  <a:srgbClr val="E2E8F0"/>
                </a:solidFill>
                <a:latin typeface="Segoe UI"/>
              </a:defRPr>
            </a:pPr>
            <a:r>
              <a:t>Rezultate și evaluare</a:t>
            </a:r>
          </a:p>
          <a:p>
            <a:pPr>
              <a:defRPr sz="2200">
                <a:solidFill>
                  <a:srgbClr val="E2E8F0"/>
                </a:solidFill>
                <a:latin typeface="Segoe UI"/>
              </a:defRPr>
            </a:pPr>
            <a:r>
              <a:t>Interfață demo</a:t>
            </a:r>
          </a:p>
          <a:p>
            <a:pPr>
              <a:defRPr sz="2200">
                <a:solidFill>
                  <a:srgbClr val="E2E8F0"/>
                </a:solidFill>
                <a:latin typeface="Segoe UI"/>
              </a:defRPr>
            </a:pPr>
            <a:r>
              <a:t>Concluzii și direcții viitoare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548640" y="-365760"/>
            <a:ext cx="3840480" cy="3840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0" y="4572000"/>
            <a:ext cx="4206240" cy="42062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155680" cy="5212080"/>
          </a:xfrm>
          <a:prstGeom prst="rect">
            <a:avLst/>
          </a:prstGeom>
          <a:solidFill>
            <a:srgbClr val="0A1020"/>
          </a:solidFill>
          <a:ln w="158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365760"/>
            <a:ext cx="11247120" cy="822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502920"/>
            <a:ext cx="137160" cy="548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438912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 Semibold"/>
              </a:defRPr>
            </a:pPr>
            <a:r>
              <a:t>Motivație &amp; Obiective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10789920" cy="5120640"/>
          </a:xfrm>
          <a:prstGeom prst="roundRect">
            <a:avLst/>
          </a:prstGeom>
          <a:solidFill>
            <a:srgbClr val="11182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E2E8F0"/>
                </a:solidFill>
                <a:latin typeface="Segoe UI"/>
              </a:defRPr>
            </a:pPr>
            <a:r>
              <a:t>Automatizarea recunoașterii semnelor de circulație</a:t>
            </a:r>
          </a:p>
          <a:p>
            <a:pPr>
              <a:defRPr sz="2200">
                <a:solidFill>
                  <a:srgbClr val="E2E8F0"/>
                </a:solidFill>
                <a:latin typeface="Segoe UI"/>
              </a:defRPr>
            </a:pPr>
            <a:r>
              <a:t>Predicții rapide în timp real (&lt;200ms)</a:t>
            </a:r>
          </a:p>
          <a:p>
            <a:pPr>
              <a:defRPr sz="2200">
                <a:solidFill>
                  <a:srgbClr val="E2E8F0"/>
                </a:solidFill>
                <a:latin typeface="Segoe UI"/>
              </a:defRPr>
            </a:pPr>
            <a:r>
              <a:t>Integrare completă: date → RN → aplicație web</a:t>
            </a:r>
          </a:p>
          <a:p>
            <a:pPr>
              <a:defRPr sz="2200">
                <a:solidFill>
                  <a:srgbClr val="E2E8F0"/>
                </a:solidFill>
                <a:latin typeface="Segoe UI"/>
              </a:defRPr>
            </a:pPr>
            <a:r>
              <a:t>Ușor de demonstrat și extins pentru scenarii reale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548640" y="-365760"/>
            <a:ext cx="3840480" cy="3840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0" y="4572000"/>
            <a:ext cx="4206240" cy="42062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155680" cy="5212080"/>
          </a:xfrm>
          <a:prstGeom prst="rect">
            <a:avLst/>
          </a:prstGeom>
          <a:solidFill>
            <a:srgbClr val="0A1020"/>
          </a:solidFill>
          <a:ln w="158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365760"/>
            <a:ext cx="11247120" cy="822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502920"/>
            <a:ext cx="137160" cy="548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438912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 Semibold"/>
              </a:defRPr>
            </a:pPr>
            <a:r>
              <a:t>Date &amp; Contribuție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394960" cy="5029200"/>
          </a:xfrm>
          <a:prstGeom prst="roundRect">
            <a:avLst/>
          </a:prstGeom>
          <a:solidFill>
            <a:srgbClr val="11182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6B6D4"/>
                </a:solidFill>
                <a:latin typeface="Segoe UI Semibold"/>
              </a:defRPr>
            </a:pPr>
            <a:r>
              <a:t>Dataset</a:t>
            </a:r>
          </a:p>
          <a:p>
            <a:pPr lvl="1">
              <a:defRPr sz="1800">
                <a:solidFill>
                  <a:srgbClr val="E2E8F0"/>
                </a:solidFill>
                <a:latin typeface="Segoe UI"/>
              </a:defRPr>
            </a:pPr>
            <a:r>
              <a:t>Total imagini: 30</a:t>
            </a:r>
          </a:p>
          <a:p>
            <a:pPr lvl="1">
              <a:defRPr sz="1800">
                <a:solidFill>
                  <a:srgbClr val="E2E8F0"/>
                </a:solidFill>
                <a:latin typeface="Segoe UI"/>
              </a:defRPr>
            </a:pPr>
            <a:r>
              <a:t>Originale: 14 (achiziție manuală)</a:t>
            </a:r>
          </a:p>
          <a:p>
            <a:pPr lvl="1">
              <a:defRPr sz="1800">
                <a:solidFill>
                  <a:srgbClr val="E2E8F0"/>
                </a:solidFill>
                <a:latin typeface="Segoe UI"/>
              </a:defRPr>
            </a:pPr>
            <a:r>
              <a:t>Sintetice: 16 (augmentare)</a:t>
            </a:r>
          </a:p>
          <a:p>
            <a:pPr lvl="1">
              <a:defRPr sz="1800">
                <a:solidFill>
                  <a:srgbClr val="E2E8F0"/>
                </a:solidFill>
                <a:latin typeface="Segoe UI"/>
              </a:defRPr>
            </a:pPr>
            <a:r>
              <a:t>Clase: 14 semne</a:t>
            </a:r>
          </a:p>
          <a:p>
            <a:pPr lvl="1">
              <a:defRPr sz="1800">
                <a:solidFill>
                  <a:srgbClr val="E2E8F0"/>
                </a:solidFill>
                <a:latin typeface="Segoe UI"/>
              </a:defRPr>
            </a:pPr>
            <a:r>
              <a:t>Dimensiune standard: 128x128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280160"/>
            <a:ext cx="5394960" cy="5029200"/>
          </a:xfrm>
          <a:prstGeom prst="roundRect">
            <a:avLst/>
          </a:prstGeom>
          <a:solidFill>
            <a:srgbClr val="11182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6B6D4"/>
                </a:solidFill>
                <a:latin typeface="Segoe UI Semibold"/>
              </a:defRPr>
            </a:pPr>
            <a:r>
              <a:t>Contribuție Originală</a:t>
            </a:r>
          </a:p>
          <a:p>
            <a:pPr lvl="1">
              <a:defRPr sz="1800">
                <a:solidFill>
                  <a:srgbClr val="E2E8F0"/>
                </a:solidFill>
                <a:latin typeface="Segoe UI"/>
              </a:defRPr>
            </a:pPr>
            <a:r>
              <a:t>Achiziție manuală în mediul urban</a:t>
            </a:r>
          </a:p>
          <a:p>
            <a:pPr lvl="1">
              <a:defRPr sz="1800">
                <a:solidFill>
                  <a:srgbClr val="E2E8F0"/>
                </a:solidFill>
                <a:latin typeface="Segoe UI"/>
              </a:defRPr>
            </a:pPr>
            <a:r>
              <a:t>Etichetare corectă în limba română</a:t>
            </a:r>
          </a:p>
          <a:p>
            <a:pPr lvl="1">
              <a:defRPr sz="1800">
                <a:solidFill>
                  <a:srgbClr val="E2E8F0"/>
                </a:solidFill>
                <a:latin typeface="Segoe UI"/>
              </a:defRPr>
            </a:pPr>
            <a:r>
              <a:t>Preprocesare: resize + normalizare</a:t>
            </a:r>
          </a:p>
          <a:p>
            <a:pPr lvl="1">
              <a:defRPr sz="1800">
                <a:solidFill>
                  <a:srgbClr val="E2E8F0"/>
                </a:solidFill>
                <a:latin typeface="Segoe UI"/>
              </a:defRPr>
            </a:pPr>
            <a:r>
              <a:t>Augmentări domeniu-specific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548640" y="-365760"/>
            <a:ext cx="3840480" cy="3840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0" y="4572000"/>
            <a:ext cx="4206240" cy="42062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155680" cy="5212080"/>
          </a:xfrm>
          <a:prstGeom prst="rect">
            <a:avLst/>
          </a:prstGeom>
          <a:solidFill>
            <a:srgbClr val="0A1020"/>
          </a:solidFill>
          <a:ln w="158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365760"/>
            <a:ext cx="11247120" cy="822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502920"/>
            <a:ext cx="137160" cy="548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438912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 Semibold"/>
              </a:defRPr>
            </a:pPr>
            <a:r>
              <a:t>State Machine (pipeline end-to-end)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10789920" cy="4937760"/>
          </a:xfrm>
          <a:prstGeom prst="roundRect">
            <a:avLst/>
          </a:prstGeom>
          <a:solidFill>
            <a:srgbClr val="11182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tate_mach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63040"/>
            <a:ext cx="10424160" cy="457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03504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  <a:latin typeface="Segoe UI"/>
              </a:defRPr>
            </a:pPr>
            <a:r>
              <a:t>Flux complet: upload → validare → preprocesare → inferență → afișare rezultat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548640" y="-365760"/>
            <a:ext cx="3840480" cy="3840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0" y="4572000"/>
            <a:ext cx="4206240" cy="42062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155680" cy="5212080"/>
          </a:xfrm>
          <a:prstGeom prst="rect">
            <a:avLst/>
          </a:prstGeom>
          <a:solidFill>
            <a:srgbClr val="0A1020"/>
          </a:solidFill>
          <a:ln w="158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365760"/>
            <a:ext cx="11247120" cy="822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502920"/>
            <a:ext cx="137160" cy="548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438912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 Semibold"/>
              </a:defRPr>
            </a:pPr>
            <a:r>
              <a:t>Arhitectură aplicație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10789920" cy="5120640"/>
          </a:xfrm>
          <a:prstGeom prst="roundRect">
            <a:avLst/>
          </a:prstGeom>
          <a:solidFill>
            <a:srgbClr val="11182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E2E8F0"/>
                </a:solidFill>
                <a:latin typeface="Segoe UI"/>
              </a:defRPr>
            </a:pPr>
            <a:r>
              <a:t>Modul 1: Data Acquisition (achiziție + augmentare)</a:t>
            </a:r>
          </a:p>
          <a:p>
            <a:pPr>
              <a:defRPr sz="2200">
                <a:solidFill>
                  <a:srgbClr val="E2E8F0"/>
                </a:solidFill>
                <a:latin typeface="Segoe UI"/>
              </a:defRPr>
            </a:pPr>
            <a:r>
              <a:t>Modul 2: Neural Network (model + antrenare + evaluare)</a:t>
            </a:r>
          </a:p>
          <a:p>
            <a:pPr>
              <a:defRPr sz="2200">
                <a:solidFill>
                  <a:srgbClr val="E2E8F0"/>
                </a:solidFill>
                <a:latin typeface="Segoe UI"/>
              </a:defRPr>
            </a:pPr>
            <a:r>
              <a:t>Modul 3: Web Service / UI (Flask + upload + predicție)</a:t>
            </a:r>
          </a:p>
          <a:p>
            <a:pPr>
              <a:defRPr sz="2200">
                <a:solidFill>
                  <a:srgbClr val="E2E8F0"/>
                </a:solidFill>
                <a:latin typeface="Segoe UI"/>
              </a:defRPr>
            </a:pPr>
            <a:r>
              <a:t>Pipeline orchestrat prin scripturi dedicate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548640" y="-365760"/>
            <a:ext cx="3840480" cy="3840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0" y="4572000"/>
            <a:ext cx="4206240" cy="42062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155680" cy="5212080"/>
          </a:xfrm>
          <a:prstGeom prst="rect">
            <a:avLst/>
          </a:prstGeom>
          <a:solidFill>
            <a:srgbClr val="0A1020"/>
          </a:solidFill>
          <a:ln w="158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365760"/>
            <a:ext cx="11247120" cy="822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502920"/>
            <a:ext cx="137160" cy="548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438912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 Semibold"/>
              </a:defRPr>
            </a:pPr>
            <a:r>
              <a:t>Arhitectură Model RN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10789920" cy="5120640"/>
          </a:xfrm>
          <a:prstGeom prst="roundRect">
            <a:avLst/>
          </a:prstGeom>
          <a:solidFill>
            <a:srgbClr val="11182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E2E8F0"/>
                </a:solidFill>
                <a:latin typeface="Segoe UI"/>
              </a:defRPr>
            </a:pPr>
            <a:r>
              <a:t>Input: 128×128 grayscale, normalizat [0,1]</a:t>
            </a:r>
          </a:p>
          <a:p>
            <a:pPr>
              <a:defRPr sz="2200">
                <a:solidFill>
                  <a:srgbClr val="E2E8F0"/>
                </a:solidFill>
                <a:latin typeface="Segoe UI"/>
              </a:defRPr>
            </a:pPr>
            <a:r>
              <a:t>Flatten → 2 layere dense (512, 256) + Dropout 0.2</a:t>
            </a:r>
          </a:p>
          <a:p>
            <a:pPr>
              <a:defRPr sz="2200">
                <a:solidFill>
                  <a:srgbClr val="E2E8F0"/>
                </a:solidFill>
                <a:latin typeface="Segoe UI"/>
              </a:defRPr>
            </a:pPr>
            <a:r>
              <a:t>Output: 14 neuroni (softmax)</a:t>
            </a:r>
          </a:p>
          <a:p>
            <a:pPr>
              <a:defRPr sz="2200">
                <a:solidFill>
                  <a:srgbClr val="E2E8F0"/>
                </a:solidFill>
                <a:latin typeface="Segoe UI"/>
              </a:defRPr>
            </a:pPr>
            <a:r>
              <a:t>Optimizer: Adam, Loss: Categorical Cross-Entropy</a:t>
            </a:r>
          </a:p>
          <a:p>
            <a:pPr>
              <a:defRPr sz="2200">
                <a:solidFill>
                  <a:srgbClr val="E2E8F0"/>
                </a:solidFill>
                <a:latin typeface="Segoe UI"/>
              </a:defRPr>
            </a:pPr>
            <a:r>
              <a:t>Batch size: 8, Epoci: 50 (early stopping optional)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548640" y="-365760"/>
            <a:ext cx="3840480" cy="3840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0" y="4572000"/>
            <a:ext cx="4206240" cy="42062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155680" cy="5212080"/>
          </a:xfrm>
          <a:prstGeom prst="rect">
            <a:avLst/>
          </a:prstGeom>
          <a:solidFill>
            <a:srgbClr val="0A1020"/>
          </a:solidFill>
          <a:ln w="158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365760"/>
            <a:ext cx="11247120" cy="822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502920"/>
            <a:ext cx="137160" cy="548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438912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 Semibold"/>
              </a:defRPr>
            </a:pPr>
            <a:r>
              <a:t>Curba de antrenare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10789920" cy="4937760"/>
          </a:xfrm>
          <a:prstGeom prst="roundRect">
            <a:avLst/>
          </a:prstGeom>
          <a:solidFill>
            <a:srgbClr val="11182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loss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63040"/>
            <a:ext cx="10424160" cy="457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03504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  <a:latin typeface="Segoe UI"/>
              </a:defRPr>
            </a:pPr>
            <a:r>
              <a:t>Loss / Val Loss pe epoci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548640" y="-365760"/>
            <a:ext cx="3840480" cy="3840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0" y="4572000"/>
            <a:ext cx="4206240" cy="42062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155680" cy="5212080"/>
          </a:xfrm>
          <a:prstGeom prst="rect">
            <a:avLst/>
          </a:prstGeom>
          <a:solidFill>
            <a:srgbClr val="0A1020"/>
          </a:solidFill>
          <a:ln w="158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365760"/>
            <a:ext cx="11247120" cy="822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502920"/>
            <a:ext cx="137160" cy="548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438912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 Semibold"/>
              </a:defRPr>
            </a:pPr>
            <a:r>
              <a:t>Rezultate (test set)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2743200" cy="1554480"/>
          </a:xfrm>
          <a:prstGeom prst="roundRect">
            <a:avLst/>
          </a:prstGeom>
          <a:solidFill>
            <a:srgbClr val="11182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94A3B8"/>
                </a:solidFill>
                <a:latin typeface="Segoe UI"/>
              </a:defRPr>
            </a:pPr>
            <a:r>
              <a:t>Accuracy</a:t>
            </a:r>
          </a:p>
          <a:p>
            <a:pPr algn="ctr">
              <a:defRPr sz="3200" b="1">
                <a:solidFill>
                  <a:srgbClr val="06B6D4"/>
                </a:solidFill>
                <a:latin typeface="Segoe UI Semibold"/>
              </a:defRPr>
            </a:pPr>
            <a:r>
              <a:t>1.00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1645920"/>
            <a:ext cx="2743200" cy="1554480"/>
          </a:xfrm>
          <a:prstGeom prst="roundRect">
            <a:avLst/>
          </a:prstGeom>
          <a:solidFill>
            <a:srgbClr val="11182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94A3B8"/>
                </a:solidFill>
                <a:latin typeface="Segoe UI"/>
              </a:defRPr>
            </a:pPr>
            <a:r>
              <a:t>F1-score</a:t>
            </a:r>
          </a:p>
          <a:p>
            <a:pPr algn="ctr">
              <a:defRPr sz="3200" b="1">
                <a:solidFill>
                  <a:srgbClr val="06B6D4"/>
                </a:solidFill>
                <a:latin typeface="Segoe UI Semibold"/>
              </a:defRPr>
            </a:pPr>
            <a:r>
              <a:t>1.00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645920"/>
            <a:ext cx="2743200" cy="1554480"/>
          </a:xfrm>
          <a:prstGeom prst="roundRect">
            <a:avLst/>
          </a:prstGeom>
          <a:solidFill>
            <a:srgbClr val="11182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94A3B8"/>
                </a:solidFill>
                <a:latin typeface="Segoe UI"/>
              </a:defRPr>
            </a:pPr>
            <a:r>
              <a:t>Precision</a:t>
            </a:r>
          </a:p>
          <a:p>
            <a:pPr algn="ctr">
              <a:defRPr sz="3200" b="1">
                <a:solidFill>
                  <a:srgbClr val="06B6D4"/>
                </a:solidFill>
                <a:latin typeface="Segoe UI Semibold"/>
              </a:defRPr>
            </a:pPr>
            <a:r>
              <a:t>1.00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607040" y="1645920"/>
            <a:ext cx="2743200" cy="1554480"/>
          </a:xfrm>
          <a:prstGeom prst="roundRect">
            <a:avLst/>
          </a:prstGeom>
          <a:solidFill>
            <a:srgbClr val="11182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94A3B8"/>
                </a:solidFill>
                <a:latin typeface="Segoe UI"/>
              </a:defRPr>
            </a:pPr>
            <a:r>
              <a:t>Recall</a:t>
            </a:r>
          </a:p>
          <a:p>
            <a:pPr algn="ctr">
              <a:defRPr sz="3200" b="1">
                <a:solidFill>
                  <a:srgbClr val="06B6D4"/>
                </a:solidFill>
                <a:latin typeface="Segoe UI Semibold"/>
              </a:defRPr>
            </a:pPr>
            <a:r>
              <a:t>1.00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548640" y="-365760"/>
            <a:ext cx="3840480" cy="3840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0" y="4572000"/>
            <a:ext cx="4206240" cy="42062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155680" cy="5212080"/>
          </a:xfrm>
          <a:prstGeom prst="rect">
            <a:avLst/>
          </a:prstGeom>
          <a:solidFill>
            <a:srgbClr val="0A1020"/>
          </a:solidFill>
          <a:ln w="158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365760"/>
            <a:ext cx="11247120" cy="822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502920"/>
            <a:ext cx="137160" cy="548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438912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 Semibold"/>
              </a:defRPr>
            </a:pPr>
            <a:r>
              <a:t>Confusion Matrix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10789920" cy="4937760"/>
          </a:xfrm>
          <a:prstGeom prst="roundRect">
            <a:avLst/>
          </a:prstGeom>
          <a:solidFill>
            <a:srgbClr val="11182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63040"/>
            <a:ext cx="10424160" cy="457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03504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  <a:latin typeface="Segoe UI"/>
              </a:defRPr>
            </a:pPr>
            <a:r>
              <a:t>Confuzii principale între clase similare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548640" y="-365760"/>
            <a:ext cx="3840480" cy="3840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0" y="4572000"/>
            <a:ext cx="4206240" cy="42062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155680" cy="5212080"/>
          </a:xfrm>
          <a:prstGeom prst="rect">
            <a:avLst/>
          </a:prstGeom>
          <a:solidFill>
            <a:srgbClr val="0A1020"/>
          </a:solidFill>
          <a:ln w="158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365760"/>
            <a:ext cx="11247120" cy="822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502920"/>
            <a:ext cx="137160" cy="548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438912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 Semibold"/>
              </a:defRPr>
            </a:pPr>
            <a:r>
              <a:t>Demo 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0160"/>
            <a:ext cx="5486400" cy="4206240"/>
          </a:xfrm>
          <a:prstGeom prst="roundRect">
            <a:avLst/>
          </a:prstGeom>
          <a:solidFill>
            <a:srgbClr val="11182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26480" y="1280160"/>
            <a:ext cx="5486400" cy="4206240"/>
          </a:xfrm>
          <a:prstGeom prst="roundRect">
            <a:avLst/>
          </a:prstGeom>
          <a:solidFill>
            <a:srgbClr val="11182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ui_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5120640" cy="3840480"/>
          </a:xfrm>
          <a:prstGeom prst="rect">
            <a:avLst/>
          </a:prstGeom>
        </p:spPr>
      </p:pic>
      <p:pic>
        <p:nvPicPr>
          <p:cNvPr id="12" name="Picture 11" descr="inference_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463040"/>
            <a:ext cx="5120640" cy="3840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54864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94A3B8"/>
                </a:solidFill>
                <a:latin typeface="Segoe UI"/>
              </a:defRPr>
            </a:pPr>
            <a:r>
              <a:t>Interfață upload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54864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94A3B8"/>
                </a:solidFill>
                <a:latin typeface="Segoe UI"/>
              </a:defRPr>
            </a:pPr>
            <a:r>
              <a:t>Predicție reală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548640" y="-365760"/>
            <a:ext cx="3840480" cy="3840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0" y="4572000"/>
            <a:ext cx="4206240" cy="42062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155680" cy="5212080"/>
          </a:xfrm>
          <a:prstGeom prst="rect">
            <a:avLst/>
          </a:prstGeom>
          <a:solidFill>
            <a:srgbClr val="0A1020"/>
          </a:solidFill>
          <a:ln w="158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365760"/>
            <a:ext cx="11247120" cy="822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502920"/>
            <a:ext cx="137160" cy="548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438912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 Semibold"/>
              </a:defRPr>
            </a:pPr>
            <a:r>
              <a:t>Concluzii &amp; Direcții Viitoare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10789920" cy="5120640"/>
          </a:xfrm>
          <a:prstGeom prst="roundRect">
            <a:avLst/>
          </a:prstGeom>
          <a:solidFill>
            <a:srgbClr val="11182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E2E8F0"/>
                </a:solidFill>
                <a:latin typeface="Segoe UI"/>
              </a:defRPr>
            </a:pPr>
            <a:r>
              <a:t>Pipeline complet funcțional și demonstrabil</a:t>
            </a:r>
          </a:p>
          <a:p>
            <a:pPr>
              <a:defRPr sz="2200">
                <a:solidFill>
                  <a:srgbClr val="E2E8F0"/>
                </a:solidFill>
                <a:latin typeface="Segoe UI"/>
              </a:defRPr>
            </a:pPr>
            <a:r>
              <a:t>Model RN integrat în UI pentru inferență reală</a:t>
            </a:r>
          </a:p>
          <a:p>
            <a:pPr>
              <a:defRPr sz="2200">
                <a:solidFill>
                  <a:srgbClr val="E2E8F0"/>
                </a:solidFill>
                <a:latin typeface="Segoe UI"/>
              </a:defRPr>
            </a:pPr>
            <a:r>
              <a:t>Limitare majoră: volum mic de date</a:t>
            </a:r>
          </a:p>
          <a:p>
            <a:pPr>
              <a:defRPr sz="2200">
                <a:solidFill>
                  <a:srgbClr val="E2E8F0"/>
                </a:solidFill>
                <a:latin typeface="Segoe UI"/>
              </a:defRPr>
            </a:pPr>
            <a:r>
              <a:t>Direcții viitoare: extindere dataset, transfer learning, optimizare latență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548640" y="-365760"/>
            <a:ext cx="3840480" cy="3840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0" y="4572000"/>
            <a:ext cx="4206240" cy="42062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155680" cy="5212080"/>
          </a:xfrm>
          <a:prstGeom prst="rect">
            <a:avLst/>
          </a:prstGeom>
          <a:solidFill>
            <a:srgbClr val="0A1020"/>
          </a:solidFill>
          <a:ln w="158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8FAFC"/>
                </a:solidFill>
                <a:latin typeface="Segoe UI Semibold"/>
              </a:defRPr>
            </a:pPr>
            <a:r>
              <a:t>Întrebări?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94A3B8"/>
                </a:solidFill>
                <a:latin typeface="Segoe UI"/>
              </a:defRPr>
            </a:pPr>
            <a:r>
              <a:t>Mulțumesc!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440</Words>
  <Application>Microsoft Office PowerPoint</Application>
  <PresentationFormat>Widescreen</PresentationFormat>
  <Paragraphs>79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Robert-Mauro SANDU (139853)</cp:lastModifiedBy>
  <cp:revision>2</cp:revision>
  <dcterms:created xsi:type="dcterms:W3CDTF">2013-01-27T09:14:16Z</dcterms:created>
  <dcterms:modified xsi:type="dcterms:W3CDTF">2026-01-22T06:21:55Z</dcterms:modified>
  <cp:category/>
</cp:coreProperties>
</file>